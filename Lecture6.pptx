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40" r:id="rId5"/>
    <p:sldId id="341" r:id="rId6"/>
    <p:sldId id="342" r:id="rId7"/>
    <p:sldId id="356" r:id="rId8"/>
    <p:sldId id="362" r:id="rId9"/>
    <p:sldId id="388" r:id="rId10"/>
    <p:sldId id="357" r:id="rId11"/>
    <p:sldId id="375" r:id="rId12"/>
    <p:sldId id="361" r:id="rId13"/>
    <p:sldId id="389" r:id="rId14"/>
    <p:sldId id="390" r:id="rId15"/>
    <p:sldId id="363" r:id="rId16"/>
    <p:sldId id="391" r:id="rId17"/>
    <p:sldId id="392" r:id="rId18"/>
    <p:sldId id="393" r:id="rId19"/>
    <p:sldId id="394" r:id="rId20"/>
    <p:sldId id="395" r:id="rId21"/>
    <p:sldId id="396" r:id="rId22"/>
    <p:sldId id="387" r:id="rId23"/>
    <p:sldId id="35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 autoAdjust="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10/30/2026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10/30/2026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011AE-978F-662C-D2BF-31364A00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EC9E5-446E-BBC6-D191-7C7AC672E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FF4A2-76C9-80A6-1124-623BDCC77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A9E3-9462-3523-FA07-5AA9ED823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327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EAA7D-34DE-A72D-237A-F6E255425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524EE-A4AD-1465-C9E5-A10934566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C1402-912D-4DB9-8906-E8227B98B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34615-8D1D-8556-6EAD-74DB080BB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10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63A6-3FFF-65C5-6CF2-27B6037C8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E823D-B0FA-E546-837F-1298AC41B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CB28C-B106-0E04-CD46-8C470FA96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07579-67B3-3600-E543-6E6D1BCC1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930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0668-6308-E1D6-CB10-0482292E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9BAEA-4443-EEA5-807F-64B126C38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C06A8-5D39-2330-EF38-305F34E1E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39590-B778-563F-27CC-F742A7A05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45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4192C-DEA7-B54E-B820-8CFE8FF69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0017A-654F-4221-52FD-A8DAB5D5A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46362-405E-D0D4-4F1E-3A6838839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FFA67-39C5-3A2E-F2A3-5CD2ABF80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69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B747-787C-32DF-5A3A-5A168E70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B399B-3FAE-E73A-31CC-2A6C9AB7E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D5DD7-F59F-F4AA-B28E-CEFB7C361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1F7B8-2221-09E6-11AF-F2DFB5D92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99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646A4-02CD-7282-E026-BB0200B9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A6F2A-BE26-D152-1886-E36833035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6A87E-2604-FAFE-0B14-D623C8F62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BD950-405F-C0D1-6638-656D4F512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88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3C85-0DFA-9751-C6B6-165251C5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7EFBC-A709-A94B-1D63-56D562750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EAC7F-3333-CEE1-680F-665BD2FA8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EAD47-5F70-7E81-A781-8EB1A3B4F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314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2A34-BEA2-1770-713E-FD1208D1D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3A2C9-D1B7-C588-9C3E-EDB6B16A1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59613-8449-FCE1-EE2D-76DC00493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8A3DF-D6EA-596D-6B47-4856330F6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62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6CCC-9A45-DF49-8853-86473CA6D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339F1-4F3E-DB87-711A-76C4F9B5D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A2832-489D-7744-7052-894BA902F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12883-4AA0-9EB6-4240-0B23936C8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46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4790A-950E-1FBD-7D33-E7AA2679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6EF18-3866-A4EC-7FAD-C8F4E1C71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74F89-D892-33EF-8E1D-8CD16871A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9E4F-0F61-98E2-86A0-3BEFCCD0C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02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01559-9F07-A32C-4AEE-39A3E665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A03BD-549E-747D-2248-03A0FC2A5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9157F-55BC-50EA-14DB-F8FE7C7B2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BAB8-D66B-37BC-BE9C-9278FAF01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415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2234-1B36-B388-D8D2-09C25CDE2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A8D06-0F61-E0C4-0CD3-398E494F9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93FF8-7E00-F3F5-CD69-83B0CB461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B4998-87BA-E865-A2EF-290CD7315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33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53925-BFB9-9BFE-621E-316A3025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E0F33-59A2-0744-EC6A-0A4F70F49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E8791-E298-529E-AAEB-B24A004FE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D66AE-F9DD-C30F-FA7A-A464CF830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048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A94ED-637B-2221-E203-4D8AB315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84123-59DA-A946-1382-32FE2569B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96B0F-0B2E-4CD4-8C17-DD4975FFA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EC5AF-1A5E-B8C9-8C15-920F75962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057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C30DA-5EAF-18F1-CDC5-BC94624E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0621B-2301-297A-8609-395DD1282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9436C-7357-BF8F-0D04-53316F151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ACA64-C445-CCA3-DD27-F03C05307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979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970" y="2277208"/>
            <a:ext cx="10728857" cy="1179844"/>
          </a:xfrm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Practices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Software Construction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8CE63-4E13-D9A7-D784-252573E78B6A}"/>
              </a:ext>
            </a:extLst>
          </p:cNvPr>
          <p:cNvSpPr txBox="1"/>
          <p:nvPr/>
        </p:nvSpPr>
        <p:spPr>
          <a:xfrm>
            <a:off x="4027714" y="5359176"/>
            <a:ext cx="4136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Maria Manzoor</a:t>
            </a:r>
          </a:p>
          <a:p>
            <a:pPr algn="ctr"/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maria.manzoor@iqraisb.edu.pk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35EDDE-9D36-57C1-AA9E-120AF8DEB10C}"/>
              </a:ext>
            </a:extLst>
          </p:cNvPr>
          <p:cNvSpPr txBox="1">
            <a:spLocks/>
          </p:cNvSpPr>
          <p:nvPr/>
        </p:nvSpPr>
        <p:spPr>
          <a:xfrm>
            <a:off x="731571" y="3169081"/>
            <a:ext cx="10571998" cy="1179844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 sz="3800" b="1">
                <a:solidFill>
                  <a:srgbClr val="FFFFFF"/>
                </a:solidFill>
              </a:defRPr>
            </a:pPr>
            <a:r>
              <a:rPr lang="en-US" sz="4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06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F43EB-7017-06A4-BEFB-FCFC29DA8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770792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017" y="924339"/>
            <a:ext cx="4383156" cy="5009322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9029" y="1169827"/>
            <a:ext cx="4572000" cy="4763834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why collaborative software development needs version control.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 repositories, commits, branches, merges, and pull requests.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Git features to coordinate work and resolve conflicts.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tools that support Agile planning, communication, code review, and automation.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collaboration practices to a realistic software construction scenario.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make team changes traceable, reviewable, and safe.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F1EBE-786C-F307-5FC4-09188F62A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00" y="624557"/>
            <a:ext cx="8915400" cy="653985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Collaboration Matters in Construction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627B9-3CC7-24EF-2428-F0B03AB5C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99F1A05B-3CC7-B484-70F4-843CEA5C3989}"/>
              </a:ext>
            </a:extLst>
          </p:cNvPr>
          <p:cNvSpPr/>
          <p:nvPr/>
        </p:nvSpPr>
        <p:spPr>
          <a:xfrm>
            <a:off x="642258" y="1422922"/>
            <a:ext cx="6291942" cy="3976391"/>
          </a:xfrm>
          <a:prstGeom prst="roundRect">
            <a:avLst/>
          </a:prstGeom>
          <a:solidFill>
            <a:srgbClr val="F5F8F2"/>
          </a:solidFill>
          <a:ln>
            <a:solidFill>
              <a:srgbClr val="2D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is usually built by multiple people working on related components.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may edit the same files or depend on each other’s work.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coordination, teams can overwrite changes, introduce defects, or duplicate effort.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practices create a shared process for planning, coding, reviewing, testing, and releasing.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collaboration is not just using tools—it also requires agreed rules and communication.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594CB8E8-AC0B-8408-DC22-41DD5EA199B7}"/>
              </a:ext>
            </a:extLst>
          </p:cNvPr>
          <p:cNvSpPr/>
          <p:nvPr/>
        </p:nvSpPr>
        <p:spPr>
          <a:xfrm>
            <a:off x="838200" y="5579192"/>
            <a:ext cx="10515600" cy="502920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2F69B2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support teamwork; they do not replace teamwork.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B02C4-830F-DC47-8165-333C62398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152" y="1591776"/>
            <a:ext cx="4181648" cy="363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D5C8-8CB7-E3A2-A9A7-27B5E813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2FB2-F7F7-6975-7D49-E936CB8C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628367"/>
            <a:ext cx="7538356" cy="653985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System (VCS): Meaning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6B094C-883E-CBD0-5CB2-275EF22FA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776B1312-75B6-FF82-BCBB-9D994E2970E0}"/>
              </a:ext>
            </a:extLst>
          </p:cNvPr>
          <p:cNvSpPr/>
          <p:nvPr/>
        </p:nvSpPr>
        <p:spPr>
          <a:xfrm>
            <a:off x="657497" y="1717851"/>
            <a:ext cx="10337074" cy="2614663"/>
          </a:xfrm>
          <a:prstGeom prst="roundRect">
            <a:avLst/>
          </a:prstGeom>
          <a:solidFill>
            <a:srgbClr val="F5F8F2"/>
          </a:solidFill>
          <a:ln>
            <a:solidFill>
              <a:srgbClr val="2D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VCS records changes to files over time.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a team see who changed what, when, and why.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versions can be inspected or restored when needed.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can work in parallel without directly overwriting each other’s work.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is a widely used distributed version control system.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1686CB-9AAD-C4CC-16F4-1005AA64B93D}"/>
              </a:ext>
            </a:extLst>
          </p:cNvPr>
          <p:cNvSpPr txBox="1"/>
          <p:nvPr/>
        </p:nvSpPr>
        <p:spPr>
          <a:xfrm>
            <a:off x="903514" y="121413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E6978"/>
                </a:solidFill>
                <a:latin typeface="Aptos"/>
              </a:defRPr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foundation for safe, traceable collaboration</a:t>
            </a:r>
          </a:p>
        </p:txBody>
      </p:sp>
    </p:spTree>
    <p:extLst>
      <p:ext uri="{BB962C8B-B14F-4D97-AF65-F5344CB8AC3E}">
        <p14:creationId xmlns:p14="http://schemas.microsoft.com/office/powerpoint/2010/main" val="232674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785BE-E52E-A641-5FA0-D0424A90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76C059-C7B8-9F3F-6C46-AF30F0E9F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60C8641-4860-FBAE-D631-7C06D159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6572" y="568057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Version Control Systems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73E6C52C-3259-6C1D-E709-B1A1FADFC6EF}"/>
              </a:ext>
            </a:extLst>
          </p:cNvPr>
          <p:cNvSpPr/>
          <p:nvPr/>
        </p:nvSpPr>
        <p:spPr>
          <a:xfrm>
            <a:off x="701040" y="1608994"/>
            <a:ext cx="10337074" cy="2614663"/>
          </a:xfrm>
          <a:prstGeom prst="roundRect">
            <a:avLst/>
          </a:prstGeom>
          <a:solidFill>
            <a:srgbClr val="F5F8F2"/>
          </a:solidFill>
          <a:ln>
            <a:solidFill>
              <a:srgbClr val="2D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keeps version history on one computer.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VCS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a central server as the main repository (for example, SVN).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VCS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each developer can have a full local repository (for example, Git).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systems support offline commits and flexible branching.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remote repository is still useful for sharing and backup.</a:t>
            </a:r>
          </a:p>
        </p:txBody>
      </p:sp>
      <p:sp>
        <p:nvSpPr>
          <p:cNvPr id="30" name="Rounded Rectangle 4">
            <a:extLst>
              <a:ext uri="{FF2B5EF4-FFF2-40B4-BE49-F238E27FC236}">
                <a16:creationId xmlns:a16="http://schemas.microsoft.com/office/drawing/2014/main" id="{C9D05EDF-6A07-63F4-5923-99CFE6246914}"/>
              </a:ext>
            </a:extLst>
          </p:cNvPr>
          <p:cNvSpPr/>
          <p:nvPr/>
        </p:nvSpPr>
        <p:spPr>
          <a:xfrm>
            <a:off x="497477" y="5787023"/>
            <a:ext cx="1074420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D3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2F69B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is distributed—even when a team uses GitHub or GitLab as its shared remote.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46C14-664E-F26B-F1B0-E3B891FB0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695" y="4355730"/>
            <a:ext cx="2170322" cy="1299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E59A29-F5C3-6BB2-80EF-F745FDE0E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7568" y="4355731"/>
            <a:ext cx="2170322" cy="12500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40BF48-BFAD-C704-81DA-8D59FE7F9B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441" y="4355730"/>
            <a:ext cx="1791782" cy="125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CB6B3-CC65-A292-135F-6E9FEF27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92B004-5161-FA76-75D2-2046890BB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F02A268-E4EF-9052-6290-710937CC1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65515" y="502743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Git Concepts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CAF2E905-01A5-8FFA-608C-0A0C806E9A4C}"/>
              </a:ext>
            </a:extLst>
          </p:cNvPr>
          <p:cNvSpPr/>
          <p:nvPr/>
        </p:nvSpPr>
        <p:spPr>
          <a:xfrm>
            <a:off x="678832" y="1413051"/>
            <a:ext cx="10652760" cy="39644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(repo):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files plus their version history.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saved snapshot of selected changes, with a message and identifier.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independent line of development.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changes from different branches.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shared repository hosted elsewhere.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directory and staging area: places where edits are made and prepared before committing.</a:t>
            </a:r>
          </a:p>
        </p:txBody>
      </p:sp>
    </p:spTree>
    <p:extLst>
      <p:ext uri="{BB962C8B-B14F-4D97-AF65-F5344CB8AC3E}">
        <p14:creationId xmlns:p14="http://schemas.microsoft.com/office/powerpoint/2010/main" val="352214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7070-9D6C-FBE9-6776-64C11501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D52A-DE5C-70A7-3C3B-425669A5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17171" y="396556"/>
            <a:ext cx="8316686" cy="653985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Typical Git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99713-7439-6B1E-DD7E-01B47EBDE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E9381139-3B8E-1340-E895-55384C1E8D76}"/>
              </a:ext>
            </a:extLst>
          </p:cNvPr>
          <p:cNvSpPr/>
          <p:nvPr/>
        </p:nvSpPr>
        <p:spPr>
          <a:xfrm>
            <a:off x="529916" y="1235874"/>
            <a:ext cx="6850598" cy="43797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Clone or pull the latest project from the remote repository.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a branch for a specific task or bug fix.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Edit code and run relevant tests locally.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Stage and commit a small, meaningful set of changes.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Push the branch and open a pull/merge request.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Respond to review feedback, pass checks, then merge.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BC4685DF-D8F9-A10A-5771-DEC6680E1202}"/>
              </a:ext>
            </a:extLst>
          </p:cNvPr>
          <p:cNvSpPr/>
          <p:nvPr/>
        </p:nvSpPr>
        <p:spPr>
          <a:xfrm>
            <a:off x="529916" y="5800997"/>
            <a:ext cx="1074420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D3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2F69B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commits focused and messages meaningful.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346EB0-6A7B-E9CA-8C53-BDDBF5B96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929" y="2002971"/>
            <a:ext cx="3913054" cy="262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2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C3419-FCC9-AC25-0276-B4113342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3D2F2-9E8B-0C87-FE42-1ABF307A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25029" y="551451"/>
            <a:ext cx="9016429" cy="653985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Git Commands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44EA5-A50D-5B07-E932-D8C7271AC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C1BDD4-A917-2DAB-F28E-6A4B3B9202B6}"/>
              </a:ext>
            </a:extLst>
          </p:cNvPr>
          <p:cNvSpPr txBox="1"/>
          <p:nvPr/>
        </p:nvSpPr>
        <p:spPr>
          <a:xfrm>
            <a:off x="896983" y="1211522"/>
            <a:ext cx="31069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5E6978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examples for a basic team workflow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704C0C1B-AA19-4BFE-D07B-AC797F1B65EC}"/>
              </a:ext>
            </a:extLst>
          </p:cNvPr>
          <p:cNvSpPr/>
          <p:nvPr/>
        </p:nvSpPr>
        <p:spPr>
          <a:xfrm>
            <a:off x="613518" y="1576336"/>
            <a:ext cx="10576996" cy="42394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clone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— copy a remote repository to your computer.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status — check changed, staged, and untracked files.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switch -c feature/login — create and switch to a branch.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 &lt;file&gt; and git commit -m "Add login validation" — prepare and record changes.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pull — fetch and integrate remote changes; git push — publish local commits.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log --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--graph — inspect project history.</a:t>
            </a:r>
          </a:p>
        </p:txBody>
      </p:sp>
    </p:spTree>
    <p:extLst>
      <p:ext uri="{BB962C8B-B14F-4D97-AF65-F5344CB8AC3E}">
        <p14:creationId xmlns:p14="http://schemas.microsoft.com/office/powerpoint/2010/main" val="275652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EEF95-5AF5-A411-8671-25CE5EFB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601726-DCA1-6106-F40A-5AC9CD813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876D90B-68EF-5EDC-0DA8-433BB5E8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4400" y="530632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Branching Strategies for Teams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ED442527-F7A0-11F1-FAB1-354494818FF6}"/>
              </a:ext>
            </a:extLst>
          </p:cNvPr>
          <p:cNvSpPr/>
          <p:nvPr/>
        </p:nvSpPr>
        <p:spPr>
          <a:xfrm>
            <a:off x="605529" y="1352812"/>
            <a:ext cx="6764100" cy="39703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branches: each task is developed separately before review and integration.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branch: should remain stable and meet the team’s quality rules.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Short-lived branches: reduce long-running divergence and difficult merges.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branches may be used when a team must stabilize a specific version.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strategy that fits team size, release frequency, and deployment process.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1327C97E-19BC-657D-B56C-492FCFCDD68D}"/>
              </a:ext>
            </a:extLst>
          </p:cNvPr>
          <p:cNvSpPr/>
          <p:nvPr/>
        </p:nvSpPr>
        <p:spPr>
          <a:xfrm>
            <a:off x="500743" y="5857105"/>
            <a:ext cx="1074420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D3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2F69B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branch should represent a clear task, not a permanent personal workspace.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09A79-A4D4-20E2-F40F-17661BAB6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710" y="2107814"/>
            <a:ext cx="3999561" cy="246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5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612B-00CF-5841-097C-AA840D79D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0CE5AD-62E5-B5F8-E688-1A596792A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26503D9-2731-731C-4FA9-446B5E2D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29" y="497975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Git: Stashing, Cherry-Picking, Rebase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08984216-E8A9-E716-3245-8B6E803F2F71}"/>
              </a:ext>
            </a:extLst>
          </p:cNvPr>
          <p:cNvSpPr/>
          <p:nvPr/>
        </p:nvSpPr>
        <p:spPr>
          <a:xfrm>
            <a:off x="605529" y="1631649"/>
            <a:ext cx="10639414" cy="25987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stash: temporarily shelves uncommitted changes so you can switch tasks.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cherry-pick: applies a specific commit to the current branch.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rebase: replays commits on top of another base to create a more linear history.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rebase can help tidy local commits before sharing them.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history-rewriting commands carefully on commits that others already depend on.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40CEEDAD-F8AB-27DF-C7CE-E1927DE0003A}"/>
              </a:ext>
            </a:extLst>
          </p:cNvPr>
          <p:cNvSpPr txBox="1"/>
          <p:nvPr/>
        </p:nvSpPr>
        <p:spPr>
          <a:xfrm>
            <a:off x="796551" y="1195311"/>
            <a:ext cx="24881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5E6978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Powerful tools for managing changes</a:t>
            </a:r>
          </a:p>
        </p:txBody>
      </p:sp>
    </p:spTree>
    <p:extLst>
      <p:ext uri="{BB962C8B-B14F-4D97-AF65-F5344CB8AC3E}">
        <p14:creationId xmlns:p14="http://schemas.microsoft.com/office/powerpoint/2010/main" val="365813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0D3FF-CDB0-26CF-5ECC-92383BD3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88366F-5338-8229-EC10-7636150E1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923C922-54ED-814D-A3B2-C37EBE44E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1799" y="574175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Merging and Resolving Conflicts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4D49B803-A4E2-7C75-2026-52D85B7418D4}"/>
              </a:ext>
            </a:extLst>
          </p:cNvPr>
          <p:cNvSpPr/>
          <p:nvPr/>
        </p:nvSpPr>
        <p:spPr>
          <a:xfrm>
            <a:off x="605529" y="1352812"/>
            <a:ext cx="10639414" cy="27619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conflict occurs when Git cannot automatically combine overlapping changes.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conflict markers and understand both developers’ intentions.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the file to create the correct combined result; remove conflict markers.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tests, inspect the diff, then stage and commit the resolution.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the decision with the teammate when behavior or requirements are unclear.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E33E39D1-B7B6-3008-7957-AF6453168B55}"/>
              </a:ext>
            </a:extLst>
          </p:cNvPr>
          <p:cNvSpPr/>
          <p:nvPr/>
        </p:nvSpPr>
        <p:spPr>
          <a:xfrm>
            <a:off x="500743" y="5857105"/>
            <a:ext cx="1074420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D3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2F69B2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resolve conflicts by blindly choosing “ours” or “theirs.”</a:t>
            </a:r>
          </a:p>
        </p:txBody>
      </p:sp>
    </p:spTree>
    <p:extLst>
      <p:ext uri="{BB962C8B-B14F-4D97-AF65-F5344CB8AC3E}">
        <p14:creationId xmlns:p14="http://schemas.microsoft.com/office/powerpoint/2010/main" val="415985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BAE8-D8ED-16B2-7A08-2FC9A2E8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C7A108-50D4-3A08-B1B7-26A42EBDD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05CF27C-8FF0-A9AB-5931-8A719FB5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9730" y="576290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 Requests and Code Review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9E69D878-655A-CFCF-8F02-D11BC1F26B6D}"/>
              </a:ext>
            </a:extLst>
          </p:cNvPr>
          <p:cNvSpPr/>
          <p:nvPr/>
        </p:nvSpPr>
        <p:spPr>
          <a:xfrm>
            <a:off x="509451" y="1378302"/>
            <a:ext cx="6903720" cy="39448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pull request (PR) or merge request proposes changes for integration.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Reviewers check correctness, readability, maintainability, security, and tests.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PRs are easier to understand and review than large, mixed-purpose changes.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checks can run builds, tests, linters, and security scans.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comments should be specific, respectful, and focused on the code—not the person.</a:t>
            </a: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16FA8259-B7E5-D993-A956-FDBB6AD15CC5}"/>
              </a:ext>
            </a:extLst>
          </p:cNvPr>
          <p:cNvSpPr/>
          <p:nvPr/>
        </p:nvSpPr>
        <p:spPr>
          <a:xfrm>
            <a:off x="509451" y="5826289"/>
            <a:ext cx="1074420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D3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2F69B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early; treat feedback as a quality practice, not a personal criticism.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8018B-5F67-58BD-761D-D0390B121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397" y="2100943"/>
            <a:ext cx="4117964" cy="252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7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EDFC4-3367-DF32-F329-D7D083A81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0E9CD0-85E1-4FD9-C1EC-50A481750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F7FFBC-F521-3C4D-4148-C1A31E74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84" y="528791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Safety and Repository Hygiene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CF1B55FF-83E3-F2D9-7C28-1733A2BD733E}"/>
              </a:ext>
            </a:extLst>
          </p:cNvPr>
          <p:cNvSpPr/>
          <p:nvPr/>
        </p:nvSpPr>
        <p:spPr>
          <a:xfrm>
            <a:off x="509451" y="1410959"/>
            <a:ext cx="11040292" cy="269295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commit passwords, API keys, tokens, or private credentials.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gitignore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generated files, local settings, and build output where appropriate.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the main branch with required reviews and passing checks.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clear commit messages and keep README/setup instructions current.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tags and releases to identify versions delivered to users.</a:t>
            </a:r>
          </a:p>
        </p:txBody>
      </p:sp>
    </p:spTree>
    <p:extLst>
      <p:ext uri="{BB962C8B-B14F-4D97-AF65-F5344CB8AC3E}">
        <p14:creationId xmlns:p14="http://schemas.microsoft.com/office/powerpoint/2010/main" val="207082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94715-C6BD-380C-028D-1478D064F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661D69-A89E-9755-EF0F-CD6C987AB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5785A51-D4BA-AFA8-D275-732F34E1F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27" y="583220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Tools for Agile Development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F6077185-338A-7454-59BB-0A687B97DF4E}"/>
              </a:ext>
            </a:extLst>
          </p:cNvPr>
          <p:cNvSpPr/>
          <p:nvPr/>
        </p:nvSpPr>
        <p:spPr>
          <a:xfrm>
            <a:off x="564968" y="1693988"/>
            <a:ext cx="11062064" cy="29303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tracking: Jira, Trello, Azure Boards, GitHub Projects.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hosting and review: GitHub, GitLab, Bitbucket, Azure Repos.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Microsoft Teams, Slack, Discord, project channels, and stand-ups.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integration: GitHub Actions, GitLab CI/CD, Jenkins, Azure Pipelines.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and knowledge sharing: Confluence, wikis, Markdown, shared docs.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tools that integrate and keep the team’s workflow visible.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C82B4AD-9AD4-6AE9-0A1E-8806C570E9AD}"/>
              </a:ext>
            </a:extLst>
          </p:cNvPr>
          <p:cNvSpPr txBox="1"/>
          <p:nvPr/>
        </p:nvSpPr>
        <p:spPr>
          <a:xfrm>
            <a:off x="809897" y="1280556"/>
            <a:ext cx="413286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5E6978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support the Agile cycle: plan → build → inspect → adapt</a:t>
            </a:r>
          </a:p>
        </p:txBody>
      </p:sp>
    </p:spTree>
    <p:extLst>
      <p:ext uri="{BB962C8B-B14F-4D97-AF65-F5344CB8AC3E}">
        <p14:creationId xmlns:p14="http://schemas.microsoft.com/office/powerpoint/2010/main" val="381454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24087-73A4-3681-9F7F-172A522C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926700-0BF6-F099-9201-625FC1FE2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D45CF5B-AE4E-65E5-55FA-999CE135D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9359" y="515004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Tools Support Agile Practices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13212FF7-FDCA-8322-938A-2A5EBAA14F3C}"/>
              </a:ext>
            </a:extLst>
          </p:cNvPr>
          <p:cNvSpPr/>
          <p:nvPr/>
        </p:nvSpPr>
        <p:spPr>
          <a:xfrm>
            <a:off x="564968" y="1312988"/>
            <a:ext cx="11062064" cy="29303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backlog: records features, user stories, priorities, and acceptance criteria.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planning: selects work the team can realistically complete.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coordination: communicates progress, blockers, and dependencies.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integration: checks changes frequently rather than waiting until the end.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review and retrospective: demonstrate working software and improve the process.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source of truth reduces conflicting task status and scattered decisions.</a:t>
            </a:r>
          </a:p>
        </p:txBody>
      </p:sp>
    </p:spTree>
    <p:extLst>
      <p:ext uri="{BB962C8B-B14F-4D97-AF65-F5344CB8AC3E}">
        <p14:creationId xmlns:p14="http://schemas.microsoft.com/office/powerpoint/2010/main" val="335145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B723-FC6B-906C-D725-63EDB407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C12631-5496-F5B5-3BCE-5B997ECEB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C344D28-8325-9E5C-8A63-62D95A1A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9359" y="515004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Building a University Portal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A7A85DC8-D2CC-0588-88CC-9155158FDA67}"/>
              </a:ext>
            </a:extLst>
          </p:cNvPr>
          <p:cNvSpPr/>
          <p:nvPr/>
        </p:nvSpPr>
        <p:spPr>
          <a:xfrm>
            <a:off x="564968" y="1312988"/>
            <a:ext cx="10973889" cy="33113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work on student records, attendance, examination, and fee modules.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developer creates a task branch and commits focused changes.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pull request is reviewed for interface compatibility and test coverage.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runs unit tests, integration tests, and code-quality checks automatically.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tracks stories and bugs on an Agile board and discusses blockers daily.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interfaces and agreed coding standards reduce integration problems.</a:t>
            </a: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F50876CF-EFB6-5AFD-3526-F7C6D6AD51BF}"/>
              </a:ext>
            </a:extLst>
          </p:cNvPr>
          <p:cNvSpPr/>
          <p:nvPr/>
        </p:nvSpPr>
        <p:spPr>
          <a:xfrm>
            <a:off x="794657" y="5840076"/>
            <a:ext cx="1074420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D3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2F69B2"/>
                </a:solidFill>
              </a:defRPr>
            </a:pPr>
            <a:r>
              <a:t>Scenario: a fee-module change must not unexpectedly break student registration.</a:t>
            </a:r>
          </a:p>
        </p:txBody>
      </p:sp>
    </p:spTree>
    <p:extLst>
      <p:ext uri="{BB962C8B-B14F-4D97-AF65-F5344CB8AC3E}">
        <p14:creationId xmlns:p14="http://schemas.microsoft.com/office/powerpoint/2010/main" val="204563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BCBEF-3B90-7273-C79E-8E594C4BD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FF24B8-9E57-AF61-3C71-04D9F0C9B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6C57B6E-1C3B-676F-E321-DA51B0C7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68" y="515004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Collaboration Problems and Solutions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7D6C45F4-CB9D-C5EF-F44B-2575AF00CC45}"/>
              </a:ext>
            </a:extLst>
          </p:cNvPr>
          <p:cNvSpPr/>
          <p:nvPr/>
        </p:nvSpPr>
        <p:spPr>
          <a:xfrm>
            <a:off x="564968" y="1312988"/>
            <a:ext cx="10973889" cy="33113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conflicts → use smaller commits, short-lived branches, and frequent integration.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ownership → assign tasks and define module interfaces.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Unreviewed defects → require code review and automated tests.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work or blockers → keep task boards current and communicate early.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Broken main branch → protect branches and require CI checks before merging.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knowledge → document decisions, setup steps, and important trade-offs.</a:t>
            </a:r>
          </a:p>
        </p:txBody>
      </p:sp>
    </p:spTree>
    <p:extLst>
      <p:ext uri="{BB962C8B-B14F-4D97-AF65-F5344CB8AC3E}">
        <p14:creationId xmlns:p14="http://schemas.microsoft.com/office/powerpoint/2010/main" val="154473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2B57-F389-FB05-181B-20B58EC6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550128-3A55-77EB-869D-CD66B6ED0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A9FE67C-2709-27B9-BA6C-ECA1E2A3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2975" y="493232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82A4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Activity: Team Git Workflow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40D0214C-C302-2ECD-7A67-ACA9E29AF543}"/>
              </a:ext>
            </a:extLst>
          </p:cNvPr>
          <p:cNvSpPr/>
          <p:nvPr/>
        </p:nvSpPr>
        <p:spPr>
          <a:xfrm>
            <a:off x="564968" y="1312988"/>
            <a:ext cx="10973889" cy="33113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three developers are building a library management system.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A changes book search; Developer B adds member registration; Developer C fixes a shared validation function.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groups, decide how to name branches, write commits, review changes, and handle a conflict.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which automated checks should run before merging.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4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Discuss: what could go wrong if everyone commits directly to the main branch?</a:t>
            </a: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8E544DFE-EC08-3BFF-4A30-53ED3A6D5800}"/>
              </a:ext>
            </a:extLst>
          </p:cNvPr>
          <p:cNvSpPr/>
          <p:nvPr/>
        </p:nvSpPr>
        <p:spPr>
          <a:xfrm>
            <a:off x="679812" y="5850962"/>
            <a:ext cx="1074420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D3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2F69B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Deliverable: a short workflow diagram or a 5-step team policy.</a:t>
            </a:r>
          </a:p>
        </p:txBody>
      </p:sp>
    </p:spTree>
    <p:extLst>
      <p:ext uri="{BB962C8B-B14F-4D97-AF65-F5344CB8AC3E}">
        <p14:creationId xmlns:p14="http://schemas.microsoft.com/office/powerpoint/2010/main" val="84179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5D16D-6E58-C1F9-BE03-8333C71D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F1218A-AB05-6590-F1DC-FB6E7C8BF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79104D5-6B52-15E6-D811-6EA733E45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00729" y="623374"/>
            <a:ext cx="10441746" cy="697336"/>
          </a:xfrm>
        </p:spPr>
        <p:txBody>
          <a:bodyPr/>
          <a:lstStyle/>
          <a:p>
            <a:pPr>
              <a:defRPr sz="2900" b="1">
                <a:solidFill>
                  <a:srgbClr val="192A4A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 Preparation Questions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34ED0D35-9C5C-ECF0-C485-B7DF0141481D}"/>
              </a:ext>
            </a:extLst>
          </p:cNvPr>
          <p:cNvSpPr/>
          <p:nvPr/>
        </p:nvSpPr>
        <p:spPr>
          <a:xfrm>
            <a:off x="606651" y="1548922"/>
            <a:ext cx="10978697" cy="32205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problems does a Version Control System solve in a software team?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Differentiate between a commit, branch, merge, and remote repository.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When might a developer use stash, cherry-pick, or rebase?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Why are pull requests and code reviews important?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How can Agile planning tools and CI support a team building a university portal?</a:t>
            </a:r>
          </a:p>
        </p:txBody>
      </p:sp>
    </p:spTree>
    <p:extLst>
      <p:ext uri="{BB962C8B-B14F-4D97-AF65-F5344CB8AC3E}">
        <p14:creationId xmlns:p14="http://schemas.microsoft.com/office/powerpoint/2010/main" val="158862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dirty="0"/>
              <a:t>Maria Manzoor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maria.manzoor@iqraisb.edu.pk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ACCF44-01D5-4C40-9EAC-D3C3683409FE}">
  <ds:schemaRefs>
    <ds:schemaRef ds:uri="http://purl.org/dc/elements/1.1/"/>
    <ds:schemaRef ds:uri="http://schemas.microsoft.com/office/2006/documentManagement/types"/>
    <ds:schemaRef ds:uri="230e9df3-be65-4c73-a93b-d1236ebd677e"/>
    <ds:schemaRef ds:uri="16c05727-aa75-4e4a-9b5f-8a80a1165891"/>
    <ds:schemaRef ds:uri="http://purl.org/dc/terms/"/>
    <ds:schemaRef ds:uri="71af3243-3dd4-4a8d-8c0d-dd76da1f02a5"/>
    <ds:schemaRef ds:uri="http://schemas.microsoft.com/sharepoint/v3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{206EE6F6-F56F-4B57-A4C8-6C501BF6D1F9}TF4e23ad37-c1a6-42e6-a6ec-6518d97eca9ec3cad5d6_win32-e4fb00466b0d</Template>
  <TotalTime>1612</TotalTime>
  <Words>1548</Words>
  <Application>Microsoft Office PowerPoint</Application>
  <PresentationFormat>Widescreen</PresentationFormat>
  <Paragraphs>155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Century Gothic</vt:lpstr>
      <vt:lpstr>Times New Roman</vt:lpstr>
      <vt:lpstr>Wingdings 2</vt:lpstr>
      <vt:lpstr>Quotable</vt:lpstr>
      <vt:lpstr>Collaborative Practices in Software Construction</vt:lpstr>
      <vt:lpstr>Agenda</vt:lpstr>
      <vt:lpstr>Why Collaboration Matters in Construction</vt:lpstr>
      <vt:lpstr>Version Control System (VCS): Meaning</vt:lpstr>
      <vt:lpstr>Types of Version Control Systems</vt:lpstr>
      <vt:lpstr>Core Git Concepts</vt:lpstr>
      <vt:lpstr>A Typical Git Workflow</vt:lpstr>
      <vt:lpstr>Useful Git Commands</vt:lpstr>
      <vt:lpstr>Branching Strategies for Teams</vt:lpstr>
      <vt:lpstr>Advanced Git: Stashing, Cherry-Picking, Rebase</vt:lpstr>
      <vt:lpstr>Merging and Resolving Conflicts</vt:lpstr>
      <vt:lpstr>Pull Requests and Code Review</vt:lpstr>
      <vt:lpstr>Collaboration Safety and Repository Hygiene</vt:lpstr>
      <vt:lpstr>Collaborative Tools for Agile Development</vt:lpstr>
      <vt:lpstr>How Tools Support Agile Practices</vt:lpstr>
      <vt:lpstr>Example: Building a University Portal</vt:lpstr>
      <vt:lpstr>Common Collaboration Problems and Solutions</vt:lpstr>
      <vt:lpstr>Class Activity: Team Git Workflow</vt:lpstr>
      <vt:lpstr>Exam Preparation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Manzoor</dc:creator>
  <cp:lastModifiedBy>Maria Manzoor</cp:lastModifiedBy>
  <cp:revision>18</cp:revision>
  <dcterms:created xsi:type="dcterms:W3CDTF">2026-10-06T07:44:30Z</dcterms:created>
  <dcterms:modified xsi:type="dcterms:W3CDTF">2026-10-30T08:01:21Z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